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36"/>
    <p:restoredTop sz="95701"/>
  </p:normalViewPr>
  <p:slideViewPr>
    <p:cSldViewPr snapToGrid="0" snapToObjects="1">
      <p:cViewPr varScale="1">
        <p:scale>
          <a:sx n="117" d="100"/>
          <a:sy n="117" d="100"/>
        </p:scale>
        <p:origin x="1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35BFDB-A552-2746-A2C1-32F6EF88C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DB1BE74-C529-AD4F-A894-2E5741DD7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C3B8C4-21A2-054A-88A7-0AFA2A5C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381B-B92A-1444-B2B0-AFDBB0DC1AD3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809C47-98F0-3644-AB11-44C058EA3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991454-F7A1-914D-98E0-ECB1713FE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B903-A8AD-7547-A84D-6D6D5FB8272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0060EA-F258-6040-A137-656A7D92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1DFA8D-D7B1-D04B-B9A0-C2CCB4B3E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7FD430-C9EE-C342-86DD-51DE5D1C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381B-B92A-1444-B2B0-AFDBB0DC1AD3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9AB611-0D50-CA48-BD49-C6F7F8529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2714E9-D9BA-E54C-9EDF-46B26DBA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B903-A8AD-7547-A84D-6D6D5FB8272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09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75EED0-645A-6D4F-9D73-1CA596E9A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305B94-5970-5D45-8EAB-202E9E4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B80666-B29E-5646-8467-BCCEA4A24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381B-B92A-1444-B2B0-AFDBB0DC1AD3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084EC4-A689-7C4D-ADAA-873AE09F3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0B30C8-0C1B-5540-BB2F-8744F2B3E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B903-A8AD-7547-A84D-6D6D5FB8272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25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122A23-670B-794D-A54D-BCB6E18D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AE6C79-39D6-894E-9FD6-AF7EC5510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853C5E-5FB4-1748-B9C9-43425ED90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A2972B-D04A-4842-A8F6-301371E89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381B-B92A-1444-B2B0-AFDBB0DC1AD3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951CB6-136E-7849-81F4-E5F254104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4462EF-5836-4F43-92AC-93906A316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B903-A8AD-7547-A84D-6D6D5FB8272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7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CB1B5F-10B7-764D-A5EE-ACBA5725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4E78D2-03B3-554C-9A2D-1E33DD5B9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B68CD6-BD9F-C64D-BEC5-28759F28E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0C9CEB0-F5C8-7F43-BEDF-B193D1919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AAB8E95-5929-E04A-9107-E4F310092D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A3D3ED3-20AF-A64A-A86C-94BCE15CC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381B-B92A-1444-B2B0-AFDBB0DC1AD3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0CC20D1-A5E9-F14E-89B2-774A1946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23411F6-BD87-E74E-9BAB-DAF2C4DB1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B903-A8AD-7547-A84D-6D6D5FB8272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6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EB0142-B9A0-8B4D-BEC7-C1EF1B717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CD62D2C-265A-F341-BD75-91A00FEF3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381B-B92A-1444-B2B0-AFDBB0DC1AD3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998C04-2F57-874A-9FC9-A59B96A5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9729CAE-802C-6047-98A8-AB781561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B903-A8AD-7547-A84D-6D6D5FB8272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97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CCAE64F-B0C2-7841-AF72-A26C7C419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381B-B92A-1444-B2B0-AFDBB0DC1AD3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3E578CF-6C0F-5441-AB8E-3B22E4A5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6218C7-5FFE-9A4B-9344-188155CE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B903-A8AD-7547-A84D-6D6D5FB8272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7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63C58C-B389-264A-9EBA-CD296478A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C07784-65F6-ED41-A6FA-902E24F7B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63373C-D22B-A846-BCC5-3E9DEE8B3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B4241CC-2305-0A43-BED9-47B210D1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381B-B92A-1444-B2B0-AFDBB0DC1AD3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C43675-BD07-4A4F-BCBD-7CC2C3A4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BC485E-12E3-0541-B868-2112F791A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B903-A8AD-7547-A84D-6D6D5FB8272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50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B022C6-1EFF-104A-AC45-20A90D0B1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F93E094-1C4A-C840-9186-1685DE7A1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6E5FC-19A2-7E49-8A80-B274E9F07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4FFDF70-13A5-B94B-87E6-40D87D028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381B-B92A-1444-B2B0-AFDBB0DC1AD3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25441ED-59E4-0F42-BB70-B6B689420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073CDE-229F-B84F-BC12-10DF953FD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B903-A8AD-7547-A84D-6D6D5FB8272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2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25BD4D-3C6C-9045-B085-4488E9A0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ED2BE1C-2EE4-314E-813C-BB72C1C16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AA2BC8-390C-9E4D-87DB-D4D6298EA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381B-B92A-1444-B2B0-AFDBB0DC1AD3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18A46A-48F4-6041-BAE4-83A0CA7B0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770C6A-1000-C642-ACB7-C89D6DBA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B903-A8AD-7547-A84D-6D6D5FB8272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8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25BD527-EB68-0546-9BB4-2A70176B8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3B611D8-5399-B942-93B7-6AA8A4F46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D5BCF7-B7C9-5C4C-86FF-2597A5A14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3381B-B92A-1444-B2B0-AFDBB0DC1AD3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8A87CD-C879-9B43-8F34-0F80029B5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765943-7203-3B4B-A089-CCAAD4969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B903-A8AD-7547-A84D-6D6D5FB8272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0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0E3A99A-B6FE-B24F-9365-3C4EB267B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1143C3-A883-F84D-AB4F-8F1E6A589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1C5013-CCD1-D34F-9E81-E38B47308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3381B-B92A-1444-B2B0-AFDBB0DC1AD3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1406C6-6F46-A043-B2EB-88F9A6F9F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C6698E-44DB-F642-849A-B30D636B8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EB903-A8AD-7547-A84D-6D6D5FB8272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3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D3BE4EE-8E3F-9A49-90E7-5CEA7B951895}"/>
              </a:ext>
            </a:extLst>
          </p:cNvPr>
          <p:cNvGrpSpPr/>
          <p:nvPr/>
        </p:nvGrpSpPr>
        <p:grpSpPr>
          <a:xfrm>
            <a:off x="449824" y="1236101"/>
            <a:ext cx="7004692" cy="1537991"/>
            <a:chOff x="449824" y="1236101"/>
            <a:chExt cx="7004692" cy="15379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hteck 4">
                  <a:extLst>
                    <a:ext uri="{FF2B5EF4-FFF2-40B4-BE49-F238E27FC236}">
                      <a16:creationId xmlns:a16="http://schemas.microsoft.com/office/drawing/2014/main" id="{EFE29AFF-8B0E-934B-86BF-40749F088EF0}"/>
                    </a:ext>
                  </a:extLst>
                </p:cNvPr>
                <p:cNvSpPr/>
                <p:nvPr/>
              </p:nvSpPr>
              <p:spPr>
                <a:xfrm>
                  <a:off x="449824" y="1677627"/>
                  <a:ext cx="4018779" cy="7078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de-DE" sz="20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0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de-DE" sz="2000" i="1" dirty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de-DE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de-DE" sz="20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de-DE" sz="20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de-DE" sz="2000" i="1" dirty="0">
                    <a:latin typeface="Cambria Math" panose="02040503050406030204" pitchFamily="18" charset="0"/>
                  </a:endParaRPr>
                </a:p>
                <a:p>
                  <a:r>
                    <a:rPr lang="de-DE" sz="2000" dirty="0"/>
                    <a:t>          </a:t>
                  </a:r>
                  <a14:m>
                    <m:oMath xmlns:m="http://schemas.openxmlformats.org/officeDocument/2006/math">
                      <m:r>
                        <a:rPr lang="de-DE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b="0" i="1" dirty="0" smtClean="0">
                          <a:latin typeface="Cambria Math" panose="02040503050406030204" pitchFamily="18" charset="0"/>
                        </a:rPr>
                        <m:t>𝐼𝑇𝐸</m:t>
                      </m:r>
                      <m:r>
                        <a:rPr lang="de-DE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0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sz="20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2000" b="0" i="1" dirty="0" smtClean="0">
                          <a:latin typeface="Cambria Math" panose="02040503050406030204" pitchFamily="18" charset="0"/>
                        </a:rPr>
                        <m:t>𝑓𝑎𝑙𝑠𝑒</m:t>
                      </m:r>
                      <m:r>
                        <a:rPr lang="de-DE" sz="20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2000" b="0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de-DE" sz="2000" i="1" dirty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5" name="Rechteck 4">
                  <a:extLst>
                    <a:ext uri="{FF2B5EF4-FFF2-40B4-BE49-F238E27FC236}">
                      <a16:creationId xmlns:a16="http://schemas.microsoft.com/office/drawing/2014/main" id="{EFE29AFF-8B0E-934B-86BF-40749F088E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824" y="1677627"/>
                  <a:ext cx="4018779" cy="707886"/>
                </a:xfrm>
                <a:prstGeom prst="rect">
                  <a:avLst/>
                </a:prstGeom>
                <a:blipFill>
                  <a:blip r:embed="rId2"/>
                  <a:stretch>
                    <a:fillRect l="-631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Abgerundetes Rechteck 5">
              <a:extLst>
                <a:ext uri="{FF2B5EF4-FFF2-40B4-BE49-F238E27FC236}">
                  <a16:creationId xmlns:a16="http://schemas.microsoft.com/office/drawing/2014/main" id="{1BCA2942-204E-7B41-9882-F4F7760E0BB6}"/>
                </a:ext>
              </a:extLst>
            </p:cNvPr>
            <p:cNvSpPr/>
            <p:nvPr/>
          </p:nvSpPr>
          <p:spPr>
            <a:xfrm>
              <a:off x="6651812" y="2353720"/>
              <a:ext cx="802704" cy="420372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FALSE</a:t>
              </a:r>
            </a:p>
          </p:txBody>
        </p:sp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21581C21-9063-DC40-A75F-424CA5A7CA3E}"/>
                </a:ext>
              </a:extLst>
            </p:cNvPr>
            <p:cNvSpPr/>
            <p:nvPr/>
          </p:nvSpPr>
          <p:spPr>
            <a:xfrm>
              <a:off x="5304321" y="2353720"/>
              <a:ext cx="802704" cy="420372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TRUE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F292A1E-A505-D048-8EFB-5B4302D5F609}"/>
                </a:ext>
              </a:extLst>
            </p:cNvPr>
            <p:cNvSpPr/>
            <p:nvPr/>
          </p:nvSpPr>
          <p:spPr>
            <a:xfrm>
              <a:off x="6096000" y="1236101"/>
              <a:ext cx="555812" cy="58243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65C6F760-2B8D-354A-93CF-13383AF6FD9E}"/>
                </a:ext>
              </a:extLst>
            </p:cNvPr>
            <p:cNvCxnSpPr>
              <a:cxnSpLocks/>
              <a:stCxn id="8" idx="3"/>
              <a:endCxn id="7" idx="0"/>
            </p:cNvCxnSpPr>
            <p:nvPr/>
          </p:nvCxnSpPr>
          <p:spPr>
            <a:xfrm flipH="1">
              <a:off x="5705673" y="1733239"/>
              <a:ext cx="471724" cy="62048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D00DBED0-F73E-1348-A738-FC4FA333947F}"/>
                </a:ext>
              </a:extLst>
            </p:cNvPr>
            <p:cNvCxnSpPr>
              <a:cxnSpLocks/>
              <a:stCxn id="8" idx="5"/>
              <a:endCxn id="6" idx="0"/>
            </p:cNvCxnSpPr>
            <p:nvPr/>
          </p:nvCxnSpPr>
          <p:spPr>
            <a:xfrm>
              <a:off x="6570415" y="1733239"/>
              <a:ext cx="482749" cy="6204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0CA561A3-9DAA-874E-AB32-3B79BCD758CC}"/>
                </a:ext>
              </a:extLst>
            </p:cNvPr>
            <p:cNvSpPr txBox="1"/>
            <p:nvPr/>
          </p:nvSpPr>
          <p:spPr>
            <a:xfrm>
              <a:off x="6222262" y="1342651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a</a:t>
              </a:r>
            </a:p>
          </p:txBody>
        </p:sp>
      </p:grpSp>
      <p:sp>
        <p:nvSpPr>
          <p:cNvPr id="12" name="Textfeld 11">
            <a:extLst>
              <a:ext uri="{FF2B5EF4-FFF2-40B4-BE49-F238E27FC236}">
                <a16:creationId xmlns:a16="http://schemas.microsoft.com/office/drawing/2014/main" id="{B268F0A6-B180-B14C-A5EE-4EB5F14B5202}"/>
              </a:ext>
            </a:extLst>
          </p:cNvPr>
          <p:cNvSpPr txBox="1"/>
          <p:nvPr/>
        </p:nvSpPr>
        <p:spPr>
          <a:xfrm>
            <a:off x="6816016" y="1711983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(a=true)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877BF61-9A13-1C40-987E-21B8184E6D2F}"/>
              </a:ext>
            </a:extLst>
          </p:cNvPr>
          <p:cNvSpPr txBox="1"/>
          <p:nvPr/>
        </p:nvSpPr>
        <p:spPr>
          <a:xfrm>
            <a:off x="4928604" y="1711983"/>
            <a:ext cx="986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(a=false)</a:t>
            </a:r>
          </a:p>
        </p:txBody>
      </p:sp>
    </p:spTree>
    <p:extLst>
      <p:ext uri="{BB962C8B-B14F-4D97-AF65-F5344CB8AC3E}">
        <p14:creationId xmlns:p14="http://schemas.microsoft.com/office/powerpoint/2010/main" val="2196484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90924C15-D3DE-9149-9E0B-30ABA59AB9AA}"/>
              </a:ext>
            </a:extLst>
          </p:cNvPr>
          <p:cNvGrpSpPr/>
          <p:nvPr/>
        </p:nvGrpSpPr>
        <p:grpSpPr>
          <a:xfrm>
            <a:off x="1255058" y="1188685"/>
            <a:ext cx="6991137" cy="3691854"/>
            <a:chOff x="1255058" y="1188685"/>
            <a:chExt cx="6991137" cy="3691854"/>
          </a:xfrm>
        </p:grpSpPr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C70FEBD7-AB94-4444-8718-D8F0DBA49C38}"/>
                </a:ext>
              </a:extLst>
            </p:cNvPr>
            <p:cNvGrpSpPr/>
            <p:nvPr/>
          </p:nvGrpSpPr>
          <p:grpSpPr>
            <a:xfrm>
              <a:off x="6084975" y="1188685"/>
              <a:ext cx="2161220" cy="3691854"/>
              <a:chOff x="6084975" y="1188685"/>
              <a:chExt cx="2161220" cy="3691854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9D4A47B-EAF6-AA4B-A160-AEF7D5F6799C}"/>
                  </a:ext>
                </a:extLst>
              </p:cNvPr>
              <p:cNvSpPr/>
              <p:nvPr/>
            </p:nvSpPr>
            <p:spPr>
              <a:xfrm>
                <a:off x="6084975" y="2231368"/>
                <a:ext cx="555812" cy="582433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cxnSp>
            <p:nvCxnSpPr>
              <p:cNvPr id="10" name="Gerade Verbindung mit Pfeil 9">
                <a:extLst>
                  <a:ext uri="{FF2B5EF4-FFF2-40B4-BE49-F238E27FC236}">
                    <a16:creationId xmlns:a16="http://schemas.microsoft.com/office/drawing/2014/main" id="{50A75288-14C4-3743-A5E6-87184FB2C1CD}"/>
                  </a:ext>
                </a:extLst>
              </p:cNvPr>
              <p:cNvCxnSpPr>
                <a:cxnSpLocks/>
                <a:stCxn id="8" idx="4"/>
              </p:cNvCxnSpPr>
              <p:nvPr/>
            </p:nvCxnSpPr>
            <p:spPr>
              <a:xfrm>
                <a:off x="6362881" y="2813801"/>
                <a:ext cx="0" cy="164636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 Verbindung mit Pfeil 11">
                <a:extLst>
                  <a:ext uri="{FF2B5EF4-FFF2-40B4-BE49-F238E27FC236}">
                    <a16:creationId xmlns:a16="http://schemas.microsoft.com/office/drawing/2014/main" id="{5D2F6C16-343E-A343-8241-55A579172CF7}"/>
                  </a:ext>
                </a:extLst>
              </p:cNvPr>
              <p:cNvCxnSpPr>
                <a:cxnSpLocks/>
                <a:stCxn id="8" idx="5"/>
              </p:cNvCxnSpPr>
              <p:nvPr/>
            </p:nvCxnSpPr>
            <p:spPr>
              <a:xfrm>
                <a:off x="6559390" y="2728506"/>
                <a:ext cx="482749" cy="62048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C01983B1-E482-6D4E-AEA8-E2ABAE9C3598}"/>
                  </a:ext>
                </a:extLst>
              </p:cNvPr>
              <p:cNvSpPr txBox="1"/>
              <p:nvPr/>
            </p:nvSpPr>
            <p:spPr>
              <a:xfrm>
                <a:off x="6211237" y="2337918"/>
                <a:ext cx="3032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b</a:t>
                </a:r>
              </a:p>
            </p:txBody>
          </p:sp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07DEB5E3-D689-3B40-9388-3834C9EF68CA}"/>
                  </a:ext>
                </a:extLst>
              </p:cNvPr>
              <p:cNvGrpSpPr/>
              <p:nvPr/>
            </p:nvGrpSpPr>
            <p:grpSpPr>
              <a:xfrm>
                <a:off x="6096000" y="3342548"/>
                <a:ext cx="2150195" cy="1537991"/>
                <a:chOff x="5304321" y="1236101"/>
                <a:chExt cx="2150195" cy="1537991"/>
              </a:xfrm>
            </p:grpSpPr>
            <p:sp>
              <p:nvSpPr>
                <p:cNvPr id="18" name="Abgerundetes Rechteck 17">
                  <a:extLst>
                    <a:ext uri="{FF2B5EF4-FFF2-40B4-BE49-F238E27FC236}">
                      <a16:creationId xmlns:a16="http://schemas.microsoft.com/office/drawing/2014/main" id="{61F1B2FC-6712-A94B-A2B8-7F77C254949B}"/>
                    </a:ext>
                  </a:extLst>
                </p:cNvPr>
                <p:cNvSpPr/>
                <p:nvPr/>
              </p:nvSpPr>
              <p:spPr>
                <a:xfrm>
                  <a:off x="6651812" y="2353720"/>
                  <a:ext cx="802704" cy="420372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TRUE</a:t>
                  </a:r>
                </a:p>
              </p:txBody>
            </p:sp>
            <p:sp>
              <p:nvSpPr>
                <p:cNvPr id="19" name="Abgerundetes Rechteck 18">
                  <a:extLst>
                    <a:ext uri="{FF2B5EF4-FFF2-40B4-BE49-F238E27FC236}">
                      <a16:creationId xmlns:a16="http://schemas.microsoft.com/office/drawing/2014/main" id="{2D638D12-E451-074C-BED9-1D59E3D200A5}"/>
                    </a:ext>
                  </a:extLst>
                </p:cNvPr>
                <p:cNvSpPr/>
                <p:nvPr/>
              </p:nvSpPr>
              <p:spPr>
                <a:xfrm>
                  <a:off x="5304321" y="2353720"/>
                  <a:ext cx="802704" cy="420372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FALSE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33E20B96-57F7-1B4B-8E88-11D9571F0286}"/>
                    </a:ext>
                  </a:extLst>
                </p:cNvPr>
                <p:cNvSpPr/>
                <p:nvPr/>
              </p:nvSpPr>
              <p:spPr>
                <a:xfrm>
                  <a:off x="6096000" y="1236101"/>
                  <a:ext cx="555812" cy="582433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1" name="Gerade Verbindung mit Pfeil 20">
                  <a:extLst>
                    <a:ext uri="{FF2B5EF4-FFF2-40B4-BE49-F238E27FC236}">
                      <a16:creationId xmlns:a16="http://schemas.microsoft.com/office/drawing/2014/main" id="{4D2A3E08-0A5D-3740-ADD6-79FE513BF504}"/>
                    </a:ext>
                  </a:extLst>
                </p:cNvPr>
                <p:cNvCxnSpPr>
                  <a:cxnSpLocks/>
                  <a:stCxn id="20" idx="3"/>
                  <a:endCxn id="19" idx="0"/>
                </p:cNvCxnSpPr>
                <p:nvPr/>
              </p:nvCxnSpPr>
              <p:spPr>
                <a:xfrm flipH="1">
                  <a:off x="5705673" y="1733239"/>
                  <a:ext cx="471724" cy="62048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ash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Gerade Verbindung mit Pfeil 21">
                  <a:extLst>
                    <a:ext uri="{FF2B5EF4-FFF2-40B4-BE49-F238E27FC236}">
                      <a16:creationId xmlns:a16="http://schemas.microsoft.com/office/drawing/2014/main" id="{E68B3A5C-03E6-944A-8A74-A04DD28F622D}"/>
                    </a:ext>
                  </a:extLst>
                </p:cNvPr>
                <p:cNvCxnSpPr>
                  <a:cxnSpLocks/>
                  <a:stCxn id="20" idx="5"/>
                  <a:endCxn id="18" idx="0"/>
                </p:cNvCxnSpPr>
                <p:nvPr/>
              </p:nvCxnSpPr>
              <p:spPr>
                <a:xfrm>
                  <a:off x="6570415" y="1733239"/>
                  <a:ext cx="482749" cy="62048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585BE355-CADC-CB46-ACDD-2B8526E28725}"/>
                    </a:ext>
                  </a:extLst>
                </p:cNvPr>
                <p:cNvSpPr txBox="1"/>
                <p:nvPr/>
              </p:nvSpPr>
              <p:spPr>
                <a:xfrm>
                  <a:off x="6222262" y="1342651"/>
                  <a:ext cx="3032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 dirty="0"/>
                    <a:t>a</a:t>
                  </a:r>
                </a:p>
              </p:txBody>
            </p:sp>
          </p:grp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08C4912-9F33-1246-A6ED-EC9590529C26}"/>
                  </a:ext>
                </a:extLst>
              </p:cNvPr>
              <p:cNvSpPr/>
              <p:nvPr/>
            </p:nvSpPr>
            <p:spPr>
              <a:xfrm>
                <a:off x="6931199" y="1188685"/>
                <a:ext cx="555812" cy="582433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cxnSp>
            <p:nvCxnSpPr>
              <p:cNvPr id="28" name="Gerade Verbindung mit Pfeil 27">
                <a:extLst>
                  <a:ext uri="{FF2B5EF4-FFF2-40B4-BE49-F238E27FC236}">
                    <a16:creationId xmlns:a16="http://schemas.microsoft.com/office/drawing/2014/main" id="{68A3BC86-46D4-B243-AD89-AB8C90F016E6}"/>
                  </a:ext>
                </a:extLst>
              </p:cNvPr>
              <p:cNvCxnSpPr>
                <a:cxnSpLocks/>
                <a:stCxn id="27" idx="3"/>
              </p:cNvCxnSpPr>
              <p:nvPr/>
            </p:nvCxnSpPr>
            <p:spPr>
              <a:xfrm flipH="1">
                <a:off x="6540872" y="1685823"/>
                <a:ext cx="471724" cy="62048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 Verbindung mit Pfeil 28">
                <a:extLst>
                  <a:ext uri="{FF2B5EF4-FFF2-40B4-BE49-F238E27FC236}">
                    <a16:creationId xmlns:a16="http://schemas.microsoft.com/office/drawing/2014/main" id="{61E0FA73-9FCF-D94E-8094-6E0176D31DFD}"/>
                  </a:ext>
                </a:extLst>
              </p:cNvPr>
              <p:cNvCxnSpPr>
                <a:cxnSpLocks/>
                <a:stCxn id="27" idx="5"/>
              </p:cNvCxnSpPr>
              <p:nvPr/>
            </p:nvCxnSpPr>
            <p:spPr>
              <a:xfrm>
                <a:off x="7405614" y="1685823"/>
                <a:ext cx="608833" cy="277434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E402A9D0-DF18-A749-BA4E-39D8BB1BFD4C}"/>
                  </a:ext>
                </a:extLst>
              </p:cNvPr>
              <p:cNvSpPr txBox="1"/>
              <p:nvPr/>
            </p:nvSpPr>
            <p:spPr>
              <a:xfrm>
                <a:off x="7057461" y="1295235"/>
                <a:ext cx="280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c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feld 41">
                  <a:extLst>
                    <a:ext uri="{FF2B5EF4-FFF2-40B4-BE49-F238E27FC236}">
                      <a16:creationId xmlns:a16="http://schemas.microsoft.com/office/drawing/2014/main" id="{D314766E-03CA-5643-B9A3-218B64C3761E}"/>
                    </a:ext>
                  </a:extLst>
                </p:cNvPr>
                <p:cNvSpPr txBox="1"/>
                <p:nvPr/>
              </p:nvSpPr>
              <p:spPr>
                <a:xfrm>
                  <a:off x="1255058" y="2858335"/>
                  <a:ext cx="226850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2" name="Textfeld 41">
                  <a:extLst>
                    <a:ext uri="{FF2B5EF4-FFF2-40B4-BE49-F238E27FC236}">
                      <a16:creationId xmlns:a16="http://schemas.microsoft.com/office/drawing/2014/main" id="{D314766E-03CA-5643-B9A3-218B64C376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5058" y="2858335"/>
                  <a:ext cx="2268506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4483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475D614-2279-6B44-8986-794C3FA2D467}"/>
              </a:ext>
            </a:extLst>
          </p:cNvPr>
          <p:cNvGrpSpPr/>
          <p:nvPr/>
        </p:nvGrpSpPr>
        <p:grpSpPr>
          <a:xfrm>
            <a:off x="1326775" y="1188685"/>
            <a:ext cx="7482911" cy="3691854"/>
            <a:chOff x="1326775" y="1188685"/>
            <a:chExt cx="7482911" cy="3691854"/>
          </a:xfrm>
        </p:grpSpPr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4BFE1393-2F4E-4B4B-946A-2A02B66EF8AF}"/>
                </a:ext>
              </a:extLst>
            </p:cNvPr>
            <p:cNvGrpSpPr/>
            <p:nvPr/>
          </p:nvGrpSpPr>
          <p:grpSpPr>
            <a:xfrm>
              <a:off x="1326775" y="1188685"/>
              <a:ext cx="6919420" cy="3691854"/>
              <a:chOff x="1326775" y="1188685"/>
              <a:chExt cx="6919420" cy="3691854"/>
            </a:xfrm>
          </p:grpSpPr>
          <p:grpSp>
            <p:nvGrpSpPr>
              <p:cNvPr id="5" name="Gruppieren 4">
                <a:extLst>
                  <a:ext uri="{FF2B5EF4-FFF2-40B4-BE49-F238E27FC236}">
                    <a16:creationId xmlns:a16="http://schemas.microsoft.com/office/drawing/2014/main" id="{F7D767B8-EEA0-1646-85D9-68A3E2DAC868}"/>
                  </a:ext>
                </a:extLst>
              </p:cNvPr>
              <p:cNvGrpSpPr/>
              <p:nvPr/>
            </p:nvGrpSpPr>
            <p:grpSpPr>
              <a:xfrm>
                <a:off x="6084975" y="1188685"/>
                <a:ext cx="2161220" cy="3691854"/>
                <a:chOff x="6084975" y="1188685"/>
                <a:chExt cx="2161220" cy="36918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B948E435-EA43-634F-A61E-EEE6F92F2A9C}"/>
                    </a:ext>
                  </a:extLst>
                </p:cNvPr>
                <p:cNvSpPr/>
                <p:nvPr/>
              </p:nvSpPr>
              <p:spPr>
                <a:xfrm>
                  <a:off x="6084975" y="2231368"/>
                  <a:ext cx="555812" cy="582433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8" name="Gerade Verbindung mit Pfeil 7">
                  <a:extLst>
                    <a:ext uri="{FF2B5EF4-FFF2-40B4-BE49-F238E27FC236}">
                      <a16:creationId xmlns:a16="http://schemas.microsoft.com/office/drawing/2014/main" id="{0F776916-C850-4C43-91D7-4BA1FB985A1A}"/>
                    </a:ext>
                  </a:extLst>
                </p:cNvPr>
                <p:cNvCxnSpPr>
                  <a:cxnSpLocks/>
                  <a:stCxn id="7" idx="4"/>
                </p:cNvCxnSpPr>
                <p:nvPr/>
              </p:nvCxnSpPr>
              <p:spPr>
                <a:xfrm>
                  <a:off x="6362881" y="2813801"/>
                  <a:ext cx="0" cy="164636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ash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Gerade Verbindung mit Pfeil 8">
                  <a:extLst>
                    <a:ext uri="{FF2B5EF4-FFF2-40B4-BE49-F238E27FC236}">
                      <a16:creationId xmlns:a16="http://schemas.microsoft.com/office/drawing/2014/main" id="{18C8667C-0AFA-6147-9DC9-5709E0722927}"/>
                    </a:ext>
                  </a:extLst>
                </p:cNvPr>
                <p:cNvCxnSpPr>
                  <a:cxnSpLocks/>
                  <a:stCxn id="7" idx="5"/>
                </p:cNvCxnSpPr>
                <p:nvPr/>
              </p:nvCxnSpPr>
              <p:spPr>
                <a:xfrm>
                  <a:off x="6559390" y="2728506"/>
                  <a:ext cx="482749" cy="62048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Gruppieren 10">
                  <a:extLst>
                    <a:ext uri="{FF2B5EF4-FFF2-40B4-BE49-F238E27FC236}">
                      <a16:creationId xmlns:a16="http://schemas.microsoft.com/office/drawing/2014/main" id="{1AD0EBFF-739F-E045-BF1A-202E23CC5952}"/>
                    </a:ext>
                  </a:extLst>
                </p:cNvPr>
                <p:cNvGrpSpPr/>
                <p:nvPr/>
              </p:nvGrpSpPr>
              <p:grpSpPr>
                <a:xfrm>
                  <a:off x="6096000" y="3342548"/>
                  <a:ext cx="2150195" cy="1537991"/>
                  <a:chOff x="5304321" y="1236101"/>
                  <a:chExt cx="2150195" cy="1537991"/>
                </a:xfrm>
              </p:grpSpPr>
              <p:sp>
                <p:nvSpPr>
                  <p:cNvPr id="16" name="Abgerundetes Rechteck 15">
                    <a:extLst>
                      <a:ext uri="{FF2B5EF4-FFF2-40B4-BE49-F238E27FC236}">
                        <a16:creationId xmlns:a16="http://schemas.microsoft.com/office/drawing/2014/main" id="{5047F08B-4D69-304D-9047-8C7B6CA5788D}"/>
                      </a:ext>
                    </a:extLst>
                  </p:cNvPr>
                  <p:cNvSpPr/>
                  <p:nvPr/>
                </p:nvSpPr>
                <p:spPr>
                  <a:xfrm>
                    <a:off x="6651812" y="2353720"/>
                    <a:ext cx="802704" cy="420372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TRUE</a:t>
                    </a:r>
                  </a:p>
                </p:txBody>
              </p:sp>
              <p:sp>
                <p:nvSpPr>
                  <p:cNvPr id="17" name="Abgerundetes Rechteck 16">
                    <a:extLst>
                      <a:ext uri="{FF2B5EF4-FFF2-40B4-BE49-F238E27FC236}">
                        <a16:creationId xmlns:a16="http://schemas.microsoft.com/office/drawing/2014/main" id="{D39CA692-32F0-AC4F-983F-E65DD0D1F29B}"/>
                      </a:ext>
                    </a:extLst>
                  </p:cNvPr>
                  <p:cNvSpPr/>
                  <p:nvPr/>
                </p:nvSpPr>
                <p:spPr>
                  <a:xfrm>
                    <a:off x="5304321" y="2353720"/>
                    <a:ext cx="802704" cy="420372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FALSE</a:t>
                    </a:r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713A6C32-0F92-9045-8CDF-716EEE448E39}"/>
                      </a:ext>
                    </a:extLst>
                  </p:cNvPr>
                  <p:cNvSpPr/>
                  <p:nvPr/>
                </p:nvSpPr>
                <p:spPr>
                  <a:xfrm>
                    <a:off x="6096000" y="1236101"/>
                    <a:ext cx="555812" cy="582433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19" name="Gerade Verbindung mit Pfeil 18">
                    <a:extLst>
                      <a:ext uri="{FF2B5EF4-FFF2-40B4-BE49-F238E27FC236}">
                        <a16:creationId xmlns:a16="http://schemas.microsoft.com/office/drawing/2014/main" id="{5D3E0FA5-ECC9-4440-A7C8-2245AB01FA73}"/>
                      </a:ext>
                    </a:extLst>
                  </p:cNvPr>
                  <p:cNvCxnSpPr>
                    <a:cxnSpLocks/>
                    <a:stCxn id="18" idx="3"/>
                    <a:endCxn id="17" idx="0"/>
                  </p:cNvCxnSpPr>
                  <p:nvPr/>
                </p:nvCxnSpPr>
                <p:spPr>
                  <a:xfrm flipH="1">
                    <a:off x="5705673" y="1733239"/>
                    <a:ext cx="471724" cy="620481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Gerade Verbindung mit Pfeil 19">
                    <a:extLst>
                      <a:ext uri="{FF2B5EF4-FFF2-40B4-BE49-F238E27FC236}">
                        <a16:creationId xmlns:a16="http://schemas.microsoft.com/office/drawing/2014/main" id="{C2CE4EAB-9FDD-9240-8247-7144AFFB0293}"/>
                      </a:ext>
                    </a:extLst>
                  </p:cNvPr>
                  <p:cNvCxnSpPr>
                    <a:cxnSpLocks/>
                    <a:stCxn id="18" idx="5"/>
                    <a:endCxn id="16" idx="0"/>
                  </p:cNvCxnSpPr>
                  <p:nvPr/>
                </p:nvCxnSpPr>
                <p:spPr>
                  <a:xfrm>
                    <a:off x="6570415" y="1733239"/>
                    <a:ext cx="482749" cy="620481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F8F0CE6B-E90E-F64E-9B57-8AD471E225E8}"/>
                    </a:ext>
                  </a:extLst>
                </p:cNvPr>
                <p:cNvSpPr/>
                <p:nvPr/>
              </p:nvSpPr>
              <p:spPr>
                <a:xfrm>
                  <a:off x="6931199" y="1188685"/>
                  <a:ext cx="555812" cy="582433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3" name="Gerade Verbindung mit Pfeil 12">
                  <a:extLst>
                    <a:ext uri="{FF2B5EF4-FFF2-40B4-BE49-F238E27FC236}">
                      <a16:creationId xmlns:a16="http://schemas.microsoft.com/office/drawing/2014/main" id="{00FC9F0F-694B-5241-99C8-DC950CD78961}"/>
                    </a:ext>
                  </a:extLst>
                </p:cNvPr>
                <p:cNvCxnSpPr>
                  <a:cxnSpLocks/>
                  <a:stCxn id="12" idx="3"/>
                </p:cNvCxnSpPr>
                <p:nvPr/>
              </p:nvCxnSpPr>
              <p:spPr>
                <a:xfrm flipH="1">
                  <a:off x="6540872" y="1685823"/>
                  <a:ext cx="471724" cy="62048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ysDash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Gerade Verbindung mit Pfeil 13">
                  <a:extLst>
                    <a:ext uri="{FF2B5EF4-FFF2-40B4-BE49-F238E27FC236}">
                      <a16:creationId xmlns:a16="http://schemas.microsoft.com/office/drawing/2014/main" id="{7CCA5BA6-461E-D74A-A7C1-AE3982C19418}"/>
                    </a:ext>
                  </a:extLst>
                </p:cNvPr>
                <p:cNvCxnSpPr>
                  <a:cxnSpLocks/>
                  <a:stCxn id="12" idx="5"/>
                </p:cNvCxnSpPr>
                <p:nvPr/>
              </p:nvCxnSpPr>
              <p:spPr>
                <a:xfrm>
                  <a:off x="7405614" y="1685823"/>
                  <a:ext cx="608833" cy="2774344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D4EC4EB4-10E8-2B4A-B938-348207BAD823}"/>
                    </a:ext>
                  </a:extLst>
                </p:cNvPr>
                <p:cNvSpPr txBox="1"/>
                <p:nvPr/>
              </p:nvSpPr>
              <p:spPr>
                <a:xfrm>
                  <a:off x="7057461" y="1295235"/>
                  <a:ext cx="29206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i="1" dirty="0"/>
                    <a:t>c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62FCB289-BE22-2143-8BDB-4DCE8D31B05D}"/>
                      </a:ext>
                    </a:extLst>
                  </p:cNvPr>
                  <p:cNvSpPr txBox="1"/>
                  <p:nvPr/>
                </p:nvSpPr>
                <p:spPr>
                  <a:xfrm>
                    <a:off x="1326775" y="2441046"/>
                    <a:ext cx="2532616" cy="19389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 ∈ 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𝔹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∈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sz="2000" i="1" dirty="0"/>
                      <a:t> </a:t>
                    </a:r>
                  </a:p>
                  <a:p>
                    <a:endParaRPr lang="en-US" sz="2000" i="1" dirty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=(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&gt;0)</m:t>
                          </m:r>
                        </m:oMath>
                      </m:oMathPara>
                    </a14:m>
                    <a:endParaRPr lang="de-DE" sz="2000" b="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)&gt;0)</m:t>
                          </m:r>
                        </m:oMath>
                      </m:oMathPara>
                    </a14:m>
                    <a:endParaRPr lang="de-DE" sz="2000" b="0" i="1" dirty="0">
                      <a:latin typeface="Cambria Math" panose="02040503050406030204" pitchFamily="18" charset="0"/>
                    </a:endParaRPr>
                  </a:p>
                  <a:p>
                    <a:endParaRPr lang="de-DE" sz="2000" b="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62FCB289-BE22-2143-8BDB-4DCE8D31B0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26775" y="2441046"/>
                    <a:ext cx="2532616" cy="193899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96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hteck 22">
                  <a:extLst>
                    <a:ext uri="{FF2B5EF4-FFF2-40B4-BE49-F238E27FC236}">
                      <a16:creationId xmlns:a16="http://schemas.microsoft.com/office/drawing/2014/main" id="{84634AD1-FC71-3444-BB85-0AC074F6F621}"/>
                    </a:ext>
                  </a:extLst>
                </p:cNvPr>
                <p:cNvSpPr/>
                <p:nvPr/>
              </p:nvSpPr>
              <p:spPr>
                <a:xfrm>
                  <a:off x="7343194" y="3089420"/>
                  <a:ext cx="146649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de-DE" sz="2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Rechteck 22">
                  <a:extLst>
                    <a:ext uri="{FF2B5EF4-FFF2-40B4-BE49-F238E27FC236}">
                      <a16:creationId xmlns:a16="http://schemas.microsoft.com/office/drawing/2014/main" id="{84634AD1-FC71-3444-BB85-0AC074F6F6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3194" y="3089420"/>
                  <a:ext cx="1466492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hteck 23">
                  <a:extLst>
                    <a:ext uri="{FF2B5EF4-FFF2-40B4-BE49-F238E27FC236}">
                      <a16:creationId xmlns:a16="http://schemas.microsoft.com/office/drawing/2014/main" id="{812A36EB-D439-494A-A4EE-87B14CB7C07F}"/>
                    </a:ext>
                  </a:extLst>
                </p:cNvPr>
                <p:cNvSpPr/>
                <p:nvPr/>
              </p:nvSpPr>
              <p:spPr>
                <a:xfrm>
                  <a:off x="4796480" y="1936972"/>
                  <a:ext cx="14477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i="1" smtClean="0">
                            <a:latin typeface="Cambria Math" panose="02040503050406030204" pitchFamily="18" charset="0"/>
                          </a:rPr>
                          <m:t>g</m:t>
                        </m:r>
                        <m:d>
                          <m:d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4" name="Rechteck 23">
                  <a:extLst>
                    <a:ext uri="{FF2B5EF4-FFF2-40B4-BE49-F238E27FC236}">
                      <a16:creationId xmlns:a16="http://schemas.microsoft.com/office/drawing/2014/main" id="{812A36EB-D439-494A-A4EE-87B14CB7C0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6480" y="1936972"/>
                  <a:ext cx="144770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47340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18D93861-86EA-E747-8839-218143AB0B5D}"/>
                  </a:ext>
                </a:extLst>
              </p:cNvPr>
              <p:cNvSpPr/>
              <p:nvPr/>
            </p:nvSpPr>
            <p:spPr>
              <a:xfrm>
                <a:off x="449824" y="1677627"/>
                <a:ext cx="4018779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0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de-DE" sz="20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de-DE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de-DE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DE" sz="2000" i="1" dirty="0">
                  <a:latin typeface="Cambria Math" panose="02040503050406030204" pitchFamily="18" charset="0"/>
                </a:endParaRPr>
              </a:p>
              <a:p>
                <a:r>
                  <a:rPr lang="de-DE" sz="2000" dirty="0"/>
                  <a:t>          </a:t>
                </a:r>
                <a14:m>
                  <m:oMath xmlns:m="http://schemas.openxmlformats.org/officeDocument/2006/math">
                    <m:r>
                      <a:rPr lang="de-DE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000" b="0" i="1" dirty="0" smtClean="0">
                        <a:latin typeface="Cambria Math" panose="02040503050406030204" pitchFamily="18" charset="0"/>
                      </a:rPr>
                      <m:t>𝐼𝑇𝐸</m:t>
                    </m:r>
                    <m:r>
                      <a:rPr lang="de-DE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2000" i="1" dirty="0" err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de-DE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2000" i="1" dirty="0" err="1" smtClean="0">
                        <a:latin typeface="Cambria Math" panose="02040503050406030204" pitchFamily="18" charset="0"/>
                      </a:rPr>
                      <m:t>𝑓𝑎𝑙𝑠𝑒</m:t>
                    </m:r>
                    <m:r>
                      <a:rPr lang="de-DE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18D93861-86EA-E747-8839-218143AB0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24" y="1677627"/>
                <a:ext cx="4018779" cy="707886"/>
              </a:xfrm>
              <a:prstGeom prst="rect">
                <a:avLst/>
              </a:prstGeom>
              <a:blipFill>
                <a:blip r:embed="rId2"/>
                <a:stretch>
                  <a:fillRect l="-314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7AA7112C-4EBD-9246-B404-BAE9624799E3}"/>
              </a:ext>
            </a:extLst>
          </p:cNvPr>
          <p:cNvGrpSpPr/>
          <p:nvPr/>
        </p:nvGrpSpPr>
        <p:grpSpPr>
          <a:xfrm>
            <a:off x="4806779" y="1236101"/>
            <a:ext cx="3169993" cy="1537991"/>
            <a:chOff x="4794422" y="1236101"/>
            <a:chExt cx="3169993" cy="15379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Abgerundetes Rechteck 5">
                  <a:extLst>
                    <a:ext uri="{FF2B5EF4-FFF2-40B4-BE49-F238E27FC236}">
                      <a16:creationId xmlns:a16="http://schemas.microsoft.com/office/drawing/2014/main" id="{4A600DC8-C072-F442-B5EC-D90F93E206A2}"/>
                    </a:ext>
                  </a:extLst>
                </p:cNvPr>
                <p:cNvSpPr/>
                <p:nvPr/>
              </p:nvSpPr>
              <p:spPr>
                <a:xfrm>
                  <a:off x="6651811" y="2353720"/>
                  <a:ext cx="1312604" cy="420372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,</a:t>
                  </a:r>
                </a:p>
              </p:txBody>
            </p:sp>
          </mc:Choice>
          <mc:Fallback xmlns="">
            <p:sp>
              <p:nvSpPr>
                <p:cNvPr id="6" name="Abgerundetes Rechteck 5">
                  <a:extLst>
                    <a:ext uri="{FF2B5EF4-FFF2-40B4-BE49-F238E27FC236}">
                      <a16:creationId xmlns:a16="http://schemas.microsoft.com/office/drawing/2014/main" id="{4A600DC8-C072-F442-B5EC-D90F93E206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1811" y="2353720"/>
                  <a:ext cx="1312604" cy="420372"/>
                </a:xfrm>
                <a:prstGeom prst="roundRect">
                  <a:avLst/>
                </a:prstGeom>
                <a:blipFill>
                  <a:blip r:embed="rId3"/>
                  <a:stretch>
                    <a:fillRect b="-17143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Abgerundetes Rechteck 6">
                  <a:extLst>
                    <a:ext uri="{FF2B5EF4-FFF2-40B4-BE49-F238E27FC236}">
                      <a16:creationId xmlns:a16="http://schemas.microsoft.com/office/drawing/2014/main" id="{EC0D08A9-87F0-2045-BED1-FDE3393A87CF}"/>
                    </a:ext>
                  </a:extLst>
                </p:cNvPr>
                <p:cNvSpPr/>
                <p:nvPr/>
              </p:nvSpPr>
              <p:spPr>
                <a:xfrm>
                  <a:off x="4794422" y="2353720"/>
                  <a:ext cx="1312604" cy="420372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−100+</m:t>
                        </m:r>
                        <m:sSub>
                          <m:sSubPr>
                            <m:ctrlPr>
                              <a:rPr lang="de-D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>
                            <a:solidFill>
                              <a:schemeClr val="tx1"/>
                            </a:solidFill>
                          </a:rPr>
                          <m:t>,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Abgerundetes Rechteck 6">
                  <a:extLst>
                    <a:ext uri="{FF2B5EF4-FFF2-40B4-BE49-F238E27FC236}">
                      <a16:creationId xmlns:a16="http://schemas.microsoft.com/office/drawing/2014/main" id="{EC0D08A9-87F0-2045-BED1-FDE3393A87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4422" y="2353720"/>
                  <a:ext cx="1312604" cy="420372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18A44C4-CD4E-D34D-88F4-D37E1DCA6A36}"/>
                </a:ext>
              </a:extLst>
            </p:cNvPr>
            <p:cNvSpPr/>
            <p:nvPr/>
          </p:nvSpPr>
          <p:spPr>
            <a:xfrm>
              <a:off x="6096000" y="1236101"/>
              <a:ext cx="555812" cy="58243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B70D703E-A7FC-AB40-8CAE-46965561F770}"/>
                </a:ext>
              </a:extLst>
            </p:cNvPr>
            <p:cNvCxnSpPr>
              <a:cxnSpLocks/>
              <a:stCxn id="8" idx="3"/>
              <a:endCxn id="7" idx="0"/>
            </p:cNvCxnSpPr>
            <p:nvPr/>
          </p:nvCxnSpPr>
          <p:spPr>
            <a:xfrm flipH="1">
              <a:off x="5450724" y="1733239"/>
              <a:ext cx="726673" cy="62048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C635F304-5F92-4640-9994-C683F6D08AEC}"/>
                </a:ext>
              </a:extLst>
            </p:cNvPr>
            <p:cNvCxnSpPr>
              <a:cxnSpLocks/>
              <a:stCxn id="8" idx="5"/>
              <a:endCxn id="6" idx="0"/>
            </p:cNvCxnSpPr>
            <p:nvPr/>
          </p:nvCxnSpPr>
          <p:spPr>
            <a:xfrm>
              <a:off x="6570415" y="1733239"/>
              <a:ext cx="737698" cy="6204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30CBFA37-552D-EC49-B190-496881E62E17}"/>
                    </a:ext>
                  </a:extLst>
                </p:cNvPr>
                <p:cNvSpPr txBox="1"/>
                <p:nvPr/>
              </p:nvSpPr>
              <p:spPr>
                <a:xfrm>
                  <a:off x="6009864" y="1344384"/>
                  <a:ext cx="7280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6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600" i="1" dirty="0"/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30CBFA37-552D-EC49-B190-496881E62E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9864" y="1344384"/>
                  <a:ext cx="72808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65714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ABE2A5A9-8D82-5E19-0BAB-A0279E058850}"/>
              </a:ext>
            </a:extLst>
          </p:cNvPr>
          <p:cNvGrpSpPr/>
          <p:nvPr/>
        </p:nvGrpSpPr>
        <p:grpSpPr>
          <a:xfrm>
            <a:off x="80157" y="234101"/>
            <a:ext cx="11897708" cy="6468793"/>
            <a:chOff x="80157" y="234101"/>
            <a:chExt cx="11897708" cy="646879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8A1872EB-B1B9-C1F6-582C-0958A05DFD82}"/>
                </a:ext>
              </a:extLst>
            </p:cNvPr>
            <p:cNvSpPr/>
            <p:nvPr/>
          </p:nvSpPr>
          <p:spPr>
            <a:xfrm>
              <a:off x="4892578" y="234101"/>
              <a:ext cx="5063359" cy="17287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1">
                  <a:solidFill>
                    <a:schemeClr val="tx1"/>
                  </a:solidFill>
                </a:rPr>
                <a:t>Interface DD&lt;ValueType&gt;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Constants: </a:t>
              </a:r>
              <a:r>
                <a:rPr lang="en-US" sz="1600" i="1" noProof="1">
                  <a:solidFill>
                    <a:schemeClr val="tx1"/>
                  </a:solidFill>
                </a:rPr>
                <a:t>empty, zero, one, all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Set functions: </a:t>
              </a:r>
              <a:r>
                <a:rPr lang="en-US" sz="1600" i="1" noProof="1">
                  <a:solidFill>
                    <a:schemeClr val="tx1"/>
                  </a:solidFill>
                </a:rPr>
                <a:t>intersect(..), union(..)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Apply functions (implementation): </a:t>
              </a:r>
              <a:br>
                <a:rPr lang="en-US" sz="1600" noProof="1">
                  <a:solidFill>
                    <a:schemeClr val="tx1"/>
                  </a:solidFill>
                </a:rPr>
              </a:br>
              <a:r>
                <a:rPr lang="en-US" sz="1600" i="1" noProof="1">
                  <a:solidFill>
                    <a:schemeClr val="tx1"/>
                  </a:solidFill>
                </a:rPr>
                <a:t>applyGeneric(..), applySplitGeneric(), … </a:t>
              </a:r>
              <a:endParaRPr lang="en-US" sz="1600" noProof="1">
                <a:solidFill>
                  <a:schemeClr val="tx1"/>
                </a:solidFill>
              </a:endParaRP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E3E2FAE7-33B8-B151-FCDB-1236B72DA32D}"/>
                </a:ext>
              </a:extLst>
            </p:cNvPr>
            <p:cNvSpPr/>
            <p:nvPr/>
          </p:nvSpPr>
          <p:spPr>
            <a:xfrm>
              <a:off x="2870653" y="2525602"/>
              <a:ext cx="2790496" cy="2238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1">
                  <a:solidFill>
                    <a:schemeClr val="tx1"/>
                  </a:solidFill>
                </a:rPr>
                <a:t>Real (alias AADD)</a:t>
              </a:r>
              <a:br>
                <a:rPr lang="en-US" b="1" noProof="1">
                  <a:solidFill>
                    <a:schemeClr val="tx1"/>
                  </a:solidFill>
                </a:rPr>
              </a:br>
              <a:endParaRPr lang="en-US" b="1" noProof="1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Constants (ref.)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Set Functions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Arithmetic functions via apply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LP Solver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852BBCB1-3D47-748B-D4C3-E3147BCB79EA}"/>
                </a:ext>
              </a:extLst>
            </p:cNvPr>
            <p:cNvSpPr/>
            <p:nvPr/>
          </p:nvSpPr>
          <p:spPr>
            <a:xfrm>
              <a:off x="6029011" y="2525601"/>
              <a:ext cx="2790496" cy="2238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1">
                  <a:solidFill>
                    <a:schemeClr val="tx1"/>
                  </a:solidFill>
                </a:rPr>
                <a:t>Integer (alias IDD)</a:t>
              </a:r>
            </a:p>
            <a:p>
              <a:endParaRPr lang="en-US" b="1" noProof="1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Constants (ref.)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Set Functions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Arithmetic functions via apply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600" noProof="1">
                <a:solidFill>
                  <a:schemeClr val="tx1"/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53ECCD4E-831D-478E-3707-5B3564F40B84}"/>
                </a:ext>
              </a:extLst>
            </p:cNvPr>
            <p:cNvSpPr/>
            <p:nvPr/>
          </p:nvSpPr>
          <p:spPr>
            <a:xfrm>
              <a:off x="9187369" y="2525600"/>
              <a:ext cx="2790496" cy="22387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1">
                  <a:solidFill>
                    <a:schemeClr val="tx1"/>
                  </a:solidFill>
                </a:rPr>
                <a:t>Boolean (alias BDD)</a:t>
              </a:r>
            </a:p>
            <a:p>
              <a:endParaRPr lang="en-US" b="1" noProof="1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Constants (ref.)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Set Functions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Boolean functions via apply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noProof="1">
                <a:solidFill>
                  <a:schemeClr val="tx1"/>
                </a:solidFill>
              </a:endParaRPr>
            </a:p>
            <a:p>
              <a:endParaRPr lang="en-US" b="1" noProof="1">
                <a:solidFill>
                  <a:schemeClr val="tx1"/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48886B5C-FC8F-D6DB-B3CE-F0B274A90059}"/>
                </a:ext>
              </a:extLst>
            </p:cNvPr>
            <p:cNvSpPr/>
            <p:nvPr/>
          </p:nvSpPr>
          <p:spPr>
            <a:xfrm>
              <a:off x="80157" y="234101"/>
              <a:ext cx="2262993" cy="359494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1">
                  <a:solidFill>
                    <a:schemeClr val="tx1"/>
                  </a:solidFill>
                </a:rPr>
                <a:t>DDBuilder</a:t>
              </a:r>
            </a:p>
            <a:p>
              <a:pPr algn="ctr"/>
              <a:endParaRPr lang="en-US" b="1" noProof="1">
                <a:solidFill>
                  <a:schemeClr val="tx1"/>
                </a:solidFill>
              </a:endParaRPr>
            </a:p>
            <a:p>
              <a:r>
                <a:rPr lang="en-US" sz="1600" b="1" noProof="1">
                  <a:solidFill>
                    <a:schemeClr val="tx1"/>
                  </a:solidFill>
                </a:rPr>
                <a:t>Factory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real(..)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integer(..)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boolean(..)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600" noProof="1">
                <a:solidFill>
                  <a:schemeClr val="tx1"/>
                </a:solidFill>
              </a:endParaRPr>
            </a:p>
            <a:p>
              <a:r>
                <a:rPr lang="en-US" sz="1600" b="1" noProof="1">
                  <a:solidFill>
                    <a:schemeClr val="tx1"/>
                  </a:solidFill>
                </a:rPr>
                <a:t>Constants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noProof="1">
                  <a:solidFill>
                    <a:schemeClr val="tx1"/>
                  </a:solidFill>
                </a:rPr>
                <a:t>Reals.All, … </a:t>
              </a:r>
            </a:p>
            <a:p>
              <a:endParaRPr lang="en-US" sz="1600" b="1" noProof="1">
                <a:solidFill>
                  <a:schemeClr val="tx1"/>
                </a:solidFill>
              </a:endParaRPr>
            </a:p>
            <a:p>
              <a:r>
                <a:rPr lang="en-US" sz="1600" b="1" noProof="1">
                  <a:solidFill>
                    <a:schemeClr val="bg1">
                      <a:lumMod val="50000"/>
                    </a:schemeClr>
                  </a:solidFill>
                </a:rPr>
                <a:t>ConditionManager</a:t>
              </a:r>
              <a:endParaRPr lang="en-US" sz="1600" noProof="1">
                <a:solidFill>
                  <a:schemeClr val="bg1">
                    <a:lumMod val="50000"/>
                  </a:schemeClr>
                </a:solidFill>
              </a:endParaRPr>
            </a:p>
            <a:p>
              <a:r>
                <a:rPr lang="en-US" sz="1600" b="1" noProof="1">
                  <a:solidFill>
                    <a:schemeClr val="bg1">
                      <a:lumMod val="50000"/>
                    </a:schemeClr>
                  </a:solidFill>
                </a:rPr>
                <a:t>NoiseVariableManager</a:t>
              </a: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73CB4A9F-FA75-CC13-891B-E82A4D4679D0}"/>
                </a:ext>
              </a:extLst>
            </p:cNvPr>
            <p:cNvSpPr/>
            <p:nvPr/>
          </p:nvSpPr>
          <p:spPr>
            <a:xfrm>
              <a:off x="80157" y="5188980"/>
              <a:ext cx="2262993" cy="151391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1">
                  <a:solidFill>
                    <a:schemeClr val="tx1"/>
                  </a:solidFill>
                </a:rPr>
                <a:t>UnaryFunction</a:t>
              </a:r>
              <a:br>
                <a:rPr lang="en-US" b="1" noProof="1">
                  <a:solidFill>
                    <a:schemeClr val="tx1"/>
                  </a:solidFill>
                </a:rPr>
              </a:br>
              <a:endParaRPr lang="en-US" noProof="1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1">
                  <a:solidFill>
                    <a:schemeClr val="tx1"/>
                  </a:solidFill>
                </a:rPr>
                <a:t>Math. properties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1">
                  <a:solidFill>
                    <a:schemeClr val="tx1"/>
                  </a:solidFill>
                </a:rPr>
                <a:t>linearize()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noProof="1">
                  <a:solidFill>
                    <a:schemeClr val="tx1"/>
                  </a:solidFill>
                </a:rPr>
                <a:t>splitPoints</a:t>
              </a:r>
            </a:p>
          </p:txBody>
        </p:sp>
        <p:cxnSp>
          <p:nvCxnSpPr>
            <p:cNvPr id="17" name="Gewinkelte Verbindung 16">
              <a:extLst>
                <a:ext uri="{FF2B5EF4-FFF2-40B4-BE49-F238E27FC236}">
                  <a16:creationId xmlns:a16="http://schemas.microsoft.com/office/drawing/2014/main" id="{9B613673-3FDE-A9D4-FEE4-8862362ADBA7}"/>
                </a:ext>
              </a:extLst>
            </p:cNvPr>
            <p:cNvCxnSpPr>
              <a:stCxn id="5" idx="0"/>
              <a:endCxn id="4" idx="2"/>
            </p:cNvCxnSpPr>
            <p:nvPr/>
          </p:nvCxnSpPr>
          <p:spPr>
            <a:xfrm rot="5400000" flipH="1" flipV="1">
              <a:off x="5563722" y="665067"/>
              <a:ext cx="562714" cy="3158357"/>
            </a:xfrm>
            <a:prstGeom prst="bentConnector3">
              <a:avLst>
                <a:gd name="adj1" fmla="val 29687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winkelte Verbindung 17">
              <a:extLst>
                <a:ext uri="{FF2B5EF4-FFF2-40B4-BE49-F238E27FC236}">
                  <a16:creationId xmlns:a16="http://schemas.microsoft.com/office/drawing/2014/main" id="{28A60A01-0224-4D4B-1955-6EC8346FC88E}"/>
                </a:ext>
              </a:extLst>
            </p:cNvPr>
            <p:cNvCxnSpPr>
              <a:cxnSpLocks/>
              <a:stCxn id="6" idx="0"/>
              <a:endCxn id="4" idx="2"/>
            </p:cNvCxnSpPr>
            <p:nvPr/>
          </p:nvCxnSpPr>
          <p:spPr>
            <a:xfrm rot="16200000" flipV="1">
              <a:off x="7142903" y="2244244"/>
              <a:ext cx="562713" cy="1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winkelte Verbindung 20">
              <a:extLst>
                <a:ext uri="{FF2B5EF4-FFF2-40B4-BE49-F238E27FC236}">
                  <a16:creationId xmlns:a16="http://schemas.microsoft.com/office/drawing/2014/main" id="{5E614950-1384-AF1F-ED84-C28AE8039BE9}"/>
                </a:ext>
              </a:extLst>
            </p:cNvPr>
            <p:cNvCxnSpPr>
              <a:cxnSpLocks/>
              <a:stCxn id="7" idx="0"/>
              <a:endCxn id="4" idx="2"/>
            </p:cNvCxnSpPr>
            <p:nvPr/>
          </p:nvCxnSpPr>
          <p:spPr>
            <a:xfrm rot="16200000" flipV="1">
              <a:off x="8722082" y="665064"/>
              <a:ext cx="562712" cy="3158359"/>
            </a:xfrm>
            <a:prstGeom prst="bentConnector3">
              <a:avLst>
                <a:gd name="adj1" fmla="val 29687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Dreieck 24">
              <a:extLst>
                <a:ext uri="{FF2B5EF4-FFF2-40B4-BE49-F238E27FC236}">
                  <a16:creationId xmlns:a16="http://schemas.microsoft.com/office/drawing/2014/main" id="{A67D0055-EC58-A16B-2A20-F45311CA2147}"/>
                </a:ext>
              </a:extLst>
            </p:cNvPr>
            <p:cNvSpPr/>
            <p:nvPr/>
          </p:nvSpPr>
          <p:spPr>
            <a:xfrm>
              <a:off x="7302815" y="1962885"/>
              <a:ext cx="242888" cy="200025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9F4A0C46-E4D9-FEAA-1C05-26FE2006BE94}"/>
                </a:ext>
              </a:extLst>
            </p:cNvPr>
            <p:cNvGrpSpPr/>
            <p:nvPr/>
          </p:nvGrpSpPr>
          <p:grpSpPr>
            <a:xfrm>
              <a:off x="2870653" y="5188980"/>
              <a:ext cx="9107212" cy="1017443"/>
              <a:chOff x="2870653" y="5088964"/>
              <a:chExt cx="9107212" cy="1017443"/>
            </a:xfrm>
          </p:grpSpPr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CF17C2FA-D3F3-4BC1-A11D-F6A99D9608C9}"/>
                  </a:ext>
                </a:extLst>
              </p:cNvPr>
              <p:cNvSpPr/>
              <p:nvPr/>
            </p:nvSpPr>
            <p:spPr>
              <a:xfrm>
                <a:off x="2870653" y="5088966"/>
                <a:ext cx="2790496" cy="4478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noProof="1">
                    <a:solidFill>
                      <a:schemeClr val="tx1"/>
                    </a:solidFill>
                  </a:rPr>
                  <a:t>AffineForm</a:t>
                </a:r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D008734D-D39F-0345-3F0A-5B4D0FF43CB8}"/>
                  </a:ext>
                </a:extLst>
              </p:cNvPr>
              <p:cNvSpPr/>
              <p:nvPr/>
            </p:nvSpPr>
            <p:spPr>
              <a:xfrm>
                <a:off x="6029010" y="5088964"/>
                <a:ext cx="2790496" cy="44785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noProof="1">
                    <a:solidFill>
                      <a:schemeClr val="tx1"/>
                    </a:solidFill>
                  </a:rPr>
                  <a:t>IntegerRange</a:t>
                </a:r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520F42B6-3ECF-E46D-A40A-F306143A2337}"/>
                  </a:ext>
                </a:extLst>
              </p:cNvPr>
              <p:cNvSpPr/>
              <p:nvPr/>
            </p:nvSpPr>
            <p:spPr>
              <a:xfrm>
                <a:off x="9187369" y="5088964"/>
                <a:ext cx="2790496" cy="44785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noProof="1">
                    <a:solidFill>
                      <a:schemeClr val="tx1"/>
                    </a:solidFill>
                  </a:rPr>
                  <a:t>XBool</a:t>
                </a:r>
              </a:p>
            </p:txBody>
          </p:sp>
          <p:sp>
            <p:nvSpPr>
              <p:cNvPr id="29" name="Dreieck 28">
                <a:extLst>
                  <a:ext uri="{FF2B5EF4-FFF2-40B4-BE49-F238E27FC236}">
                    <a16:creationId xmlns:a16="http://schemas.microsoft.com/office/drawing/2014/main" id="{580176AE-AD6D-56AB-13CB-35D3AAD12BC3}"/>
                  </a:ext>
                </a:extLst>
              </p:cNvPr>
              <p:cNvSpPr/>
              <p:nvPr/>
            </p:nvSpPr>
            <p:spPr>
              <a:xfrm>
                <a:off x="4144456" y="5566004"/>
                <a:ext cx="242888" cy="200025"/>
              </a:xfrm>
              <a:prstGeom prst="triangl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6" name="Gerade Verbindung 35">
                <a:extLst>
                  <a:ext uri="{FF2B5EF4-FFF2-40B4-BE49-F238E27FC236}">
                    <a16:creationId xmlns:a16="http://schemas.microsoft.com/office/drawing/2014/main" id="{620A31AA-0480-E34B-39C8-6A0E7B1523BA}"/>
                  </a:ext>
                </a:extLst>
              </p:cNvPr>
              <p:cNvCxnSpPr>
                <a:stCxn id="29" idx="3"/>
              </p:cNvCxnSpPr>
              <p:nvPr/>
            </p:nvCxnSpPr>
            <p:spPr>
              <a:xfrm>
                <a:off x="4265900" y="5766029"/>
                <a:ext cx="0" cy="332519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" name="Gruppieren 38">
                <a:extLst>
                  <a:ext uri="{FF2B5EF4-FFF2-40B4-BE49-F238E27FC236}">
                    <a16:creationId xmlns:a16="http://schemas.microsoft.com/office/drawing/2014/main" id="{96EEC882-F088-DCEA-4146-531018027037}"/>
                  </a:ext>
                </a:extLst>
              </p:cNvPr>
              <p:cNvGrpSpPr/>
              <p:nvPr/>
            </p:nvGrpSpPr>
            <p:grpSpPr>
              <a:xfrm>
                <a:off x="7317103" y="5573863"/>
                <a:ext cx="242888" cy="532544"/>
                <a:chOff x="4296856" y="5718404"/>
                <a:chExt cx="242888" cy="532544"/>
              </a:xfrm>
            </p:grpSpPr>
            <p:sp>
              <p:nvSpPr>
                <p:cNvPr id="37" name="Dreieck 36">
                  <a:extLst>
                    <a:ext uri="{FF2B5EF4-FFF2-40B4-BE49-F238E27FC236}">
                      <a16:creationId xmlns:a16="http://schemas.microsoft.com/office/drawing/2014/main" id="{E1962B8F-9A3D-B14B-349F-553210EC60A9}"/>
                    </a:ext>
                  </a:extLst>
                </p:cNvPr>
                <p:cNvSpPr/>
                <p:nvPr/>
              </p:nvSpPr>
              <p:spPr>
                <a:xfrm>
                  <a:off x="4296856" y="5718404"/>
                  <a:ext cx="242888" cy="200025"/>
                </a:xfrm>
                <a:prstGeom prst="triangl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8" name="Gerade Verbindung 37">
                  <a:extLst>
                    <a:ext uri="{FF2B5EF4-FFF2-40B4-BE49-F238E27FC236}">
                      <a16:creationId xmlns:a16="http://schemas.microsoft.com/office/drawing/2014/main" id="{4CD8E598-C9D0-06C4-AFBE-3BE2A5E0592F}"/>
                    </a:ext>
                  </a:extLst>
                </p:cNvPr>
                <p:cNvCxnSpPr>
                  <a:stCxn id="37" idx="3"/>
                </p:cNvCxnSpPr>
                <p:nvPr/>
              </p:nvCxnSpPr>
              <p:spPr>
                <a:xfrm>
                  <a:off x="4418300" y="5918429"/>
                  <a:ext cx="0" cy="33251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" name="Gruppieren 39">
                <a:extLst>
                  <a:ext uri="{FF2B5EF4-FFF2-40B4-BE49-F238E27FC236}">
                    <a16:creationId xmlns:a16="http://schemas.microsoft.com/office/drawing/2014/main" id="{9CD2F4CC-4691-6259-BBFD-77762B9932BB}"/>
                  </a:ext>
                </a:extLst>
              </p:cNvPr>
              <p:cNvGrpSpPr/>
              <p:nvPr/>
            </p:nvGrpSpPr>
            <p:grpSpPr>
              <a:xfrm>
                <a:off x="10446885" y="5551410"/>
                <a:ext cx="242888" cy="532544"/>
                <a:chOff x="4296856" y="5718404"/>
                <a:chExt cx="242888" cy="532544"/>
              </a:xfrm>
            </p:grpSpPr>
            <p:sp>
              <p:nvSpPr>
                <p:cNvPr id="41" name="Dreieck 40">
                  <a:extLst>
                    <a:ext uri="{FF2B5EF4-FFF2-40B4-BE49-F238E27FC236}">
                      <a16:creationId xmlns:a16="http://schemas.microsoft.com/office/drawing/2014/main" id="{0873A60E-6474-9D05-A1C7-1A92035C5932}"/>
                    </a:ext>
                  </a:extLst>
                </p:cNvPr>
                <p:cNvSpPr/>
                <p:nvPr/>
              </p:nvSpPr>
              <p:spPr>
                <a:xfrm>
                  <a:off x="4296856" y="5718404"/>
                  <a:ext cx="242888" cy="200025"/>
                </a:xfrm>
                <a:prstGeom prst="triangl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2" name="Gerade Verbindung 41">
                  <a:extLst>
                    <a:ext uri="{FF2B5EF4-FFF2-40B4-BE49-F238E27FC236}">
                      <a16:creationId xmlns:a16="http://schemas.microsoft.com/office/drawing/2014/main" id="{379605C4-87B1-6029-5DE6-89E57500FBB8}"/>
                    </a:ext>
                  </a:extLst>
                </p:cNvPr>
                <p:cNvCxnSpPr>
                  <a:stCxn id="41" idx="3"/>
                </p:cNvCxnSpPr>
                <p:nvPr/>
              </p:nvCxnSpPr>
              <p:spPr>
                <a:xfrm>
                  <a:off x="4418300" y="5918429"/>
                  <a:ext cx="0" cy="33251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5" name="Gewinkelte Verbindung 44">
              <a:extLst>
                <a:ext uri="{FF2B5EF4-FFF2-40B4-BE49-F238E27FC236}">
                  <a16:creationId xmlns:a16="http://schemas.microsoft.com/office/drawing/2014/main" id="{C877B069-EEA0-44BA-D405-0850AFC6360D}"/>
                </a:ext>
              </a:extLst>
            </p:cNvPr>
            <p:cNvCxnSpPr>
              <a:cxnSpLocks/>
              <a:stCxn id="50" idx="2"/>
            </p:cNvCxnSpPr>
            <p:nvPr/>
          </p:nvCxnSpPr>
          <p:spPr>
            <a:xfrm rot="16200000" flipH="1">
              <a:off x="1872047" y="3359083"/>
              <a:ext cx="345252" cy="1651956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1293E8CA-EECA-224C-CA2E-7ED762268E24}"/>
                </a:ext>
              </a:extLst>
            </p:cNvPr>
            <p:cNvGrpSpPr/>
            <p:nvPr/>
          </p:nvGrpSpPr>
          <p:grpSpPr>
            <a:xfrm>
              <a:off x="1126906" y="3829050"/>
              <a:ext cx="183577" cy="183385"/>
              <a:chOff x="1126906" y="3829050"/>
              <a:chExt cx="183577" cy="183385"/>
            </a:xfrm>
          </p:grpSpPr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56CBD6DD-0DCD-CDF3-D1E6-6525CB5652A9}"/>
                  </a:ext>
                </a:extLst>
              </p:cNvPr>
              <p:cNvSpPr/>
              <p:nvPr/>
            </p:nvSpPr>
            <p:spPr>
              <a:xfrm rot="2791918">
                <a:off x="1155077" y="3854575"/>
                <a:ext cx="127235" cy="132336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A9059396-4096-1ABD-E976-25F366804424}"/>
                  </a:ext>
                </a:extLst>
              </p:cNvPr>
              <p:cNvSpPr/>
              <p:nvPr/>
            </p:nvSpPr>
            <p:spPr>
              <a:xfrm>
                <a:off x="1126906" y="3829050"/>
                <a:ext cx="183577" cy="183385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3" name="Gewinkelte Verbindung 52">
              <a:extLst>
                <a:ext uri="{FF2B5EF4-FFF2-40B4-BE49-F238E27FC236}">
                  <a16:creationId xmlns:a16="http://schemas.microsoft.com/office/drawing/2014/main" id="{D5EF91C3-82A2-B160-EC98-6B59F611E39B}"/>
                </a:ext>
              </a:extLst>
            </p:cNvPr>
            <p:cNvCxnSpPr>
              <a:cxnSpLocks/>
              <a:stCxn id="50" idx="2"/>
              <a:endCxn id="6" idx="2"/>
            </p:cNvCxnSpPr>
            <p:nvPr/>
          </p:nvCxnSpPr>
          <p:spPr>
            <a:xfrm rot="16200000" flipH="1">
              <a:off x="3945542" y="1285588"/>
              <a:ext cx="751870" cy="6205564"/>
            </a:xfrm>
            <a:prstGeom prst="bentConnector3">
              <a:avLst>
                <a:gd name="adj1" fmla="val 117102"/>
              </a:avLst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winkelte Verbindung 55">
              <a:extLst>
                <a:ext uri="{FF2B5EF4-FFF2-40B4-BE49-F238E27FC236}">
                  <a16:creationId xmlns:a16="http://schemas.microsoft.com/office/drawing/2014/main" id="{602CDD34-AF72-EF5D-E962-E23FA4A66E87}"/>
                </a:ext>
              </a:extLst>
            </p:cNvPr>
            <p:cNvCxnSpPr>
              <a:cxnSpLocks/>
              <a:stCxn id="50" idx="2"/>
              <a:endCxn id="7" idx="2"/>
            </p:cNvCxnSpPr>
            <p:nvPr/>
          </p:nvCxnSpPr>
          <p:spPr>
            <a:xfrm rot="16200000" flipH="1">
              <a:off x="5524722" y="-293592"/>
              <a:ext cx="751869" cy="9363922"/>
            </a:xfrm>
            <a:prstGeom prst="bentConnector3">
              <a:avLst>
                <a:gd name="adj1" fmla="val 117102"/>
              </a:avLst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8512E7D-51F8-F853-7C84-967FF0FAA3B8}"/>
                </a:ext>
              </a:extLst>
            </p:cNvPr>
            <p:cNvSpPr/>
            <p:nvPr/>
          </p:nvSpPr>
          <p:spPr>
            <a:xfrm>
              <a:off x="2870653" y="6098548"/>
              <a:ext cx="9107212" cy="60434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1">
                  <a:solidFill>
                    <a:schemeClr val="tx1"/>
                  </a:solidFill>
                </a:rPr>
                <a:t>ValueRange&lt;*&gt;: </a:t>
              </a:r>
              <a:r>
                <a:rPr lang="en-US" noProof="1">
                  <a:solidFill>
                    <a:schemeClr val="tx1"/>
                  </a:solidFill>
                </a:rPr>
                <a:t>Constants empty, zero, one, all; Set functions intersect, union</a:t>
              </a:r>
            </a:p>
          </p:txBody>
        </p:sp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779D5F0E-4BC9-9FA0-17D9-5BAC1029992B}"/>
                </a:ext>
              </a:extLst>
            </p:cNvPr>
            <p:cNvGrpSpPr/>
            <p:nvPr/>
          </p:nvGrpSpPr>
          <p:grpSpPr>
            <a:xfrm>
              <a:off x="4175191" y="4995326"/>
              <a:ext cx="183577" cy="183385"/>
              <a:chOff x="1126906" y="3829050"/>
              <a:chExt cx="183577" cy="183385"/>
            </a:xfrm>
          </p:grpSpPr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46DA00D4-0474-CA9A-5164-A8773DB45E4C}"/>
                  </a:ext>
                </a:extLst>
              </p:cNvPr>
              <p:cNvSpPr/>
              <p:nvPr/>
            </p:nvSpPr>
            <p:spPr>
              <a:xfrm rot="2791918">
                <a:off x="1155077" y="3854575"/>
                <a:ext cx="127235" cy="132336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E896E38B-1307-B12F-96EE-E1F29D6CCC27}"/>
                  </a:ext>
                </a:extLst>
              </p:cNvPr>
              <p:cNvSpPr/>
              <p:nvPr/>
            </p:nvSpPr>
            <p:spPr>
              <a:xfrm>
                <a:off x="1126906" y="3829050"/>
                <a:ext cx="183577" cy="183385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67F383B2-A43E-2E64-61FB-30EF56F6FBB4}"/>
                </a:ext>
              </a:extLst>
            </p:cNvPr>
            <p:cNvGrpSpPr/>
            <p:nvPr/>
          </p:nvGrpSpPr>
          <p:grpSpPr>
            <a:xfrm>
              <a:off x="7518213" y="4988948"/>
              <a:ext cx="183577" cy="183385"/>
              <a:chOff x="1126906" y="3829050"/>
              <a:chExt cx="183577" cy="183385"/>
            </a:xfrm>
          </p:grpSpPr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125DFEF2-0967-EA9E-27A1-20CE27A94137}"/>
                  </a:ext>
                </a:extLst>
              </p:cNvPr>
              <p:cNvSpPr/>
              <p:nvPr/>
            </p:nvSpPr>
            <p:spPr>
              <a:xfrm rot="2791918">
                <a:off x="1155077" y="3854575"/>
                <a:ext cx="127235" cy="132336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103B456A-1AD8-6026-FA99-8508F9A4CDE6}"/>
                  </a:ext>
                </a:extLst>
              </p:cNvPr>
              <p:cNvSpPr/>
              <p:nvPr/>
            </p:nvSpPr>
            <p:spPr>
              <a:xfrm>
                <a:off x="1126906" y="3829050"/>
                <a:ext cx="183577" cy="183385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3C89F190-7186-9B5D-1422-98AA468DD63D}"/>
                </a:ext>
              </a:extLst>
            </p:cNvPr>
            <p:cNvGrpSpPr/>
            <p:nvPr/>
          </p:nvGrpSpPr>
          <p:grpSpPr>
            <a:xfrm>
              <a:off x="10689773" y="4977688"/>
              <a:ext cx="183577" cy="183385"/>
              <a:chOff x="1126906" y="3829050"/>
              <a:chExt cx="183577" cy="183385"/>
            </a:xfrm>
          </p:grpSpPr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2D48859A-CE83-056C-1BE8-11B3E54381A5}"/>
                  </a:ext>
                </a:extLst>
              </p:cNvPr>
              <p:cNvSpPr/>
              <p:nvPr/>
            </p:nvSpPr>
            <p:spPr>
              <a:xfrm rot="2791918">
                <a:off x="1155077" y="3854575"/>
                <a:ext cx="127235" cy="132336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404714A2-ECCA-6E24-3EC1-B428FC45DD67}"/>
                  </a:ext>
                </a:extLst>
              </p:cNvPr>
              <p:cNvSpPr/>
              <p:nvPr/>
            </p:nvSpPr>
            <p:spPr>
              <a:xfrm>
                <a:off x="1126906" y="3829050"/>
                <a:ext cx="183577" cy="183385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72" name="Gerade Verbindung 71">
              <a:extLst>
                <a:ext uri="{FF2B5EF4-FFF2-40B4-BE49-F238E27FC236}">
                  <a16:creationId xmlns:a16="http://schemas.microsoft.com/office/drawing/2014/main" id="{23F7C7E2-9981-D84C-8C27-BB650B43F4DD}"/>
                </a:ext>
              </a:extLst>
            </p:cNvPr>
            <p:cNvCxnSpPr>
              <a:cxnSpLocks/>
              <a:stCxn id="62" idx="0"/>
              <a:endCxn id="5" idx="2"/>
            </p:cNvCxnSpPr>
            <p:nvPr/>
          </p:nvCxnSpPr>
          <p:spPr>
            <a:xfrm flipH="1" flipV="1">
              <a:off x="4265901" y="4764306"/>
              <a:ext cx="1079" cy="23102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Gerade Verbindung 73">
              <a:extLst>
                <a:ext uri="{FF2B5EF4-FFF2-40B4-BE49-F238E27FC236}">
                  <a16:creationId xmlns:a16="http://schemas.microsoft.com/office/drawing/2014/main" id="{56293C59-9273-3D25-55BC-BE87361C2006}"/>
                </a:ext>
              </a:extLst>
            </p:cNvPr>
            <p:cNvCxnSpPr>
              <a:cxnSpLocks/>
              <a:endCxn id="67" idx="0"/>
            </p:cNvCxnSpPr>
            <p:nvPr/>
          </p:nvCxnSpPr>
          <p:spPr>
            <a:xfrm>
              <a:off x="7610001" y="4764304"/>
              <a:ext cx="1" cy="224644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erade Verbindung 76">
              <a:extLst>
                <a:ext uri="{FF2B5EF4-FFF2-40B4-BE49-F238E27FC236}">
                  <a16:creationId xmlns:a16="http://schemas.microsoft.com/office/drawing/2014/main" id="{565A6C10-F471-23DF-F3D9-D56A552A417B}"/>
                </a:ext>
              </a:extLst>
            </p:cNvPr>
            <p:cNvCxnSpPr>
              <a:cxnSpLocks/>
              <a:endCxn id="70" idx="0"/>
            </p:cNvCxnSpPr>
            <p:nvPr/>
          </p:nvCxnSpPr>
          <p:spPr>
            <a:xfrm>
              <a:off x="10781562" y="4755431"/>
              <a:ext cx="0" cy="222257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84">
              <a:extLst>
                <a:ext uri="{FF2B5EF4-FFF2-40B4-BE49-F238E27FC236}">
                  <a16:creationId xmlns:a16="http://schemas.microsoft.com/office/drawing/2014/main" id="{64F521AC-D9FD-54B3-3BB4-BAE13C97A411}"/>
                </a:ext>
              </a:extLst>
            </p:cNvPr>
            <p:cNvCxnSpPr>
              <a:stCxn id="8" idx="1"/>
            </p:cNvCxnSpPr>
            <p:nvPr/>
          </p:nvCxnSpPr>
          <p:spPr>
            <a:xfrm flipH="1" flipV="1">
              <a:off x="2343150" y="5412905"/>
              <a:ext cx="527503" cy="2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5929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484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Macintosh PowerPoint</Application>
  <PresentationFormat>Breitbild</PresentationFormat>
  <Paragraphs>68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 User</dc:creator>
  <cp:lastModifiedBy>Prof. Dr. Christoph Grimm</cp:lastModifiedBy>
  <cp:revision>15</cp:revision>
  <dcterms:created xsi:type="dcterms:W3CDTF">2020-05-14T12:50:08Z</dcterms:created>
  <dcterms:modified xsi:type="dcterms:W3CDTF">2026-08-06T20:55:52Z</dcterms:modified>
</cp:coreProperties>
</file>